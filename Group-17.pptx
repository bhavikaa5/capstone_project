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TT Firs Neue" panose="020B0604020202020204" charset="0"/>
      <p:regular r:id="rId15"/>
    </p:embeddedFont>
    <p:embeddedFont>
      <p:font typeface="TT Firs Neue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927523" y="3920015"/>
            <a:ext cx="24143047" cy="24143047"/>
          </a:xfrm>
          <a:custGeom>
            <a:avLst/>
            <a:gdLst/>
            <a:ahLst/>
            <a:cxnLst/>
            <a:rect l="l" t="t" r="r" b="b"/>
            <a:pathLst>
              <a:path w="24143047" h="24143047">
                <a:moveTo>
                  <a:pt x="0" y="0"/>
                </a:moveTo>
                <a:lnTo>
                  <a:pt x="24143046" y="0"/>
                </a:lnTo>
                <a:lnTo>
                  <a:pt x="24143046" y="24143047"/>
                </a:lnTo>
                <a:lnTo>
                  <a:pt x="0" y="2414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6420348"/>
            <a:ext cx="17006305" cy="17006305"/>
          </a:xfrm>
          <a:custGeom>
            <a:avLst/>
            <a:gdLst/>
            <a:ahLst/>
            <a:cxnLst/>
            <a:rect l="l" t="t" r="r" b="b"/>
            <a:pathLst>
              <a:path w="17006305" h="17006305">
                <a:moveTo>
                  <a:pt x="0" y="0"/>
                </a:moveTo>
                <a:lnTo>
                  <a:pt x="17006305" y="0"/>
                </a:lnTo>
                <a:lnTo>
                  <a:pt x="17006305" y="17006305"/>
                </a:lnTo>
                <a:lnTo>
                  <a:pt x="0" y="17006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500434" y="4842926"/>
            <a:ext cx="7439533" cy="1122306"/>
            <a:chOff x="0" y="0"/>
            <a:chExt cx="4378279" cy="928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8278" cy="928338"/>
            </a:xfrm>
            <a:custGeom>
              <a:avLst/>
              <a:gdLst/>
              <a:ahLst/>
              <a:cxnLst/>
              <a:rect l="l" t="t" r="r" b="b"/>
              <a:pathLst>
                <a:path w="4378278" h="928338">
                  <a:moveTo>
                    <a:pt x="4175078" y="0"/>
                  </a:moveTo>
                  <a:cubicBezTo>
                    <a:pt x="4287303" y="0"/>
                    <a:pt x="4378278" y="207815"/>
                    <a:pt x="4378278" y="464169"/>
                  </a:cubicBezTo>
                  <a:cubicBezTo>
                    <a:pt x="4378278" y="720522"/>
                    <a:pt x="4287303" y="928338"/>
                    <a:pt x="4175078" y="928338"/>
                  </a:cubicBezTo>
                  <a:lnTo>
                    <a:pt x="203200" y="928338"/>
                  </a:lnTo>
                  <a:cubicBezTo>
                    <a:pt x="90976" y="928338"/>
                    <a:pt x="0" y="720522"/>
                    <a:pt x="0" y="464169"/>
                  </a:cubicBezTo>
                  <a:cubicBezTo>
                    <a:pt x="0" y="207815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8279" cy="975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7294857" y="5965231"/>
            <a:ext cx="18831232" cy="18831232"/>
          </a:xfrm>
          <a:custGeom>
            <a:avLst/>
            <a:gdLst/>
            <a:ahLst/>
            <a:cxnLst/>
            <a:rect l="l" t="t" r="r" b="b"/>
            <a:pathLst>
              <a:path w="18831232" h="18831232">
                <a:moveTo>
                  <a:pt x="0" y="0"/>
                </a:moveTo>
                <a:lnTo>
                  <a:pt x="18831232" y="0"/>
                </a:lnTo>
                <a:lnTo>
                  <a:pt x="18831232" y="18831232"/>
                </a:lnTo>
                <a:lnTo>
                  <a:pt x="0" y="18831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65093" y="8389357"/>
            <a:ext cx="5957813" cy="848988"/>
          </a:xfrm>
          <a:custGeom>
            <a:avLst/>
            <a:gdLst/>
            <a:ahLst/>
            <a:cxnLst/>
            <a:rect l="l" t="t" r="r" b="b"/>
            <a:pathLst>
              <a:path w="5957813" h="848988">
                <a:moveTo>
                  <a:pt x="0" y="0"/>
                </a:moveTo>
                <a:lnTo>
                  <a:pt x="5957814" y="0"/>
                </a:lnTo>
                <a:lnTo>
                  <a:pt x="5957814" y="848989"/>
                </a:lnTo>
                <a:lnTo>
                  <a:pt x="0" y="848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3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494178" y="8624977"/>
            <a:ext cx="372209" cy="372209"/>
          </a:xfrm>
          <a:custGeom>
            <a:avLst/>
            <a:gdLst/>
            <a:ahLst/>
            <a:cxnLst/>
            <a:rect l="l" t="t" r="r" b="b"/>
            <a:pathLst>
              <a:path w="372209" h="372209">
                <a:moveTo>
                  <a:pt x="0" y="0"/>
                </a:moveTo>
                <a:lnTo>
                  <a:pt x="372210" y="0"/>
                </a:lnTo>
                <a:lnTo>
                  <a:pt x="372210" y="372209"/>
                </a:lnTo>
                <a:lnTo>
                  <a:pt x="0" y="372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50753" y="5375291"/>
            <a:ext cx="163111" cy="163111"/>
          </a:xfrm>
          <a:custGeom>
            <a:avLst/>
            <a:gdLst/>
            <a:ahLst/>
            <a:cxnLst/>
            <a:rect l="l" t="t" r="r" b="b"/>
            <a:pathLst>
              <a:path w="163111" h="163111">
                <a:moveTo>
                  <a:pt x="0" y="0"/>
                </a:moveTo>
                <a:lnTo>
                  <a:pt x="163112" y="0"/>
                </a:lnTo>
                <a:lnTo>
                  <a:pt x="163112" y="163111"/>
                </a:lnTo>
                <a:lnTo>
                  <a:pt x="0" y="163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326537" y="5310951"/>
            <a:ext cx="163111" cy="163111"/>
          </a:xfrm>
          <a:custGeom>
            <a:avLst/>
            <a:gdLst/>
            <a:ahLst/>
            <a:cxnLst/>
            <a:rect l="l" t="t" r="r" b="b"/>
            <a:pathLst>
              <a:path w="163111" h="163111">
                <a:moveTo>
                  <a:pt x="0" y="0"/>
                </a:moveTo>
                <a:lnTo>
                  <a:pt x="163112" y="0"/>
                </a:lnTo>
                <a:lnTo>
                  <a:pt x="163112" y="163111"/>
                </a:lnTo>
                <a:lnTo>
                  <a:pt x="0" y="163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0848" y="8531862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485736" y="2083224"/>
            <a:ext cx="11316529" cy="183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42"/>
              </a:lnSpc>
            </a:pPr>
            <a:r>
              <a:rPr lang="en-US" sz="13705" b="1" spc="-740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VERIALPHA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3243" y="8801557"/>
            <a:ext cx="1795825" cy="31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085" b="1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VERIALPHA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08932" y="8482868"/>
            <a:ext cx="2650368" cy="98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89"/>
              </a:lnSpc>
            </a:pPr>
            <a:r>
              <a:rPr lang="en-US" sz="2085" b="1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BHAVIKA BHOJWANI</a:t>
            </a:r>
          </a:p>
          <a:p>
            <a:pPr algn="r">
              <a:lnSpc>
                <a:spcPts val="2689"/>
              </a:lnSpc>
            </a:pPr>
            <a:r>
              <a:rPr lang="en-US" sz="2085" b="1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LAKSHYA SITLANI </a:t>
            </a:r>
          </a:p>
          <a:p>
            <a:pPr algn="r">
              <a:lnSpc>
                <a:spcPts val="2689"/>
              </a:lnSpc>
            </a:pPr>
            <a:r>
              <a:rPr lang="en-US" sz="2085" b="1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VISHAL SINGH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4653" y="8732485"/>
            <a:ext cx="1035436" cy="17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1303" spc="-7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8053" y="8653169"/>
            <a:ext cx="2025294" cy="35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616" spc="-141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Group 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5935" y="5147464"/>
            <a:ext cx="6988528" cy="65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sz="2444" b="1" spc="-132" dirty="0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REGIME-AWARE AI TRADING SYSTEM WITH RELIABLE BACKTEST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350206"/>
            <a:ext cx="7592391" cy="4675314"/>
          </a:xfrm>
          <a:custGeom>
            <a:avLst/>
            <a:gdLst/>
            <a:ahLst/>
            <a:cxnLst/>
            <a:rect l="l" t="t" r="r" b="b"/>
            <a:pathLst>
              <a:path w="7592391" h="4675314">
                <a:moveTo>
                  <a:pt x="0" y="0"/>
                </a:moveTo>
                <a:lnTo>
                  <a:pt x="7592391" y="0"/>
                </a:lnTo>
                <a:lnTo>
                  <a:pt x="7592391" y="4675315"/>
                </a:lnTo>
                <a:lnTo>
                  <a:pt x="0" y="4675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</a:blip>
            <a:stretch>
              <a:fillRect l="-15908" r="-15908" b="-3423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66909" y="3350206"/>
            <a:ext cx="7592391" cy="4675314"/>
          </a:xfrm>
          <a:custGeom>
            <a:avLst/>
            <a:gdLst/>
            <a:ahLst/>
            <a:cxnLst/>
            <a:rect l="l" t="t" r="r" b="b"/>
            <a:pathLst>
              <a:path w="7592391" h="4675314">
                <a:moveTo>
                  <a:pt x="0" y="0"/>
                </a:moveTo>
                <a:lnTo>
                  <a:pt x="7592391" y="0"/>
                </a:lnTo>
                <a:lnTo>
                  <a:pt x="7592391" y="4675315"/>
                </a:lnTo>
                <a:lnTo>
                  <a:pt x="0" y="4675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</a:blip>
            <a:stretch>
              <a:fillRect l="-15908" r="-15908" b="-3423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733565" y="-11866297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09675"/>
            <a:ext cx="7457534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723" y="4077637"/>
            <a:ext cx="6350764" cy="51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23" spc="-20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Proposed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9513" y="4754564"/>
            <a:ext cx="6350764" cy="176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862" spc="-10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Financial markets continuously shift between bull, bear, sideways, and high-volatility regimes, making single-strategy trading models unreliable. Most existing RL trading systems rely on one agent and a single backtest, often leading to overfitting and poor real-world performance.</a:t>
            </a: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553530" y="5644000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82801" y="4077637"/>
            <a:ext cx="6350764" cy="51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23" spc="-20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723" y="4678734"/>
            <a:ext cx="6350764" cy="413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144" lvl="1" indent="-201072" algn="l">
              <a:lnSpc>
                <a:spcPts val="2328"/>
              </a:lnSpc>
              <a:buFont typeface="Arial"/>
              <a:buChar char="•"/>
            </a:pPr>
            <a:r>
              <a:rPr lang="en-US" sz="1862" spc="-10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High-Level Strategic Agent (PPO): Detects market regimes and selects the optimal trading strategy with dynamic risk allocation.</a:t>
            </a:r>
          </a:p>
          <a:p>
            <a:pPr marL="402144" lvl="1" indent="-201072" algn="l">
              <a:lnSpc>
                <a:spcPts val="2328"/>
              </a:lnSpc>
              <a:buFont typeface="Arial"/>
              <a:buChar char="•"/>
            </a:pPr>
            <a:r>
              <a:rPr lang="en-US" sz="1862" spc="-10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Low-Level Execution Agent (SAC/DDQN): Executes trades while minimizing slippage and transaction costs.</a:t>
            </a:r>
          </a:p>
          <a:p>
            <a:pPr marL="402144" lvl="1" indent="-201072" algn="l">
              <a:lnSpc>
                <a:spcPts val="2328"/>
              </a:lnSpc>
              <a:buFont typeface="Arial"/>
              <a:buChar char="•"/>
            </a:pPr>
            <a:r>
              <a:rPr lang="en-US" sz="1862" spc="-10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Certification Pipeline: Eliminates overfitted models using robust validation and statistical tests.</a:t>
            </a:r>
          </a:p>
          <a:p>
            <a:pPr marL="402144" lvl="1" indent="-201072" algn="l">
              <a:lnSpc>
                <a:spcPts val="2328"/>
              </a:lnSpc>
              <a:buFont typeface="Arial"/>
              <a:buChar char="•"/>
            </a:pPr>
            <a:r>
              <a:rPr lang="en-US" sz="1862" spc="-10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Live Paper Trading: Monitors real-time performance against backtests through an integrity dashboard.</a:t>
            </a: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328"/>
              </a:lnSpc>
            </a:pPr>
            <a:endParaRPr lang="en-US" sz="1862" spc="-100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80432" y="4509769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1" y="0"/>
                </a:lnTo>
                <a:lnTo>
                  <a:pt x="15109371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3781096"/>
            <a:ext cx="16230600" cy="5846794"/>
          </a:xfrm>
          <a:custGeom>
            <a:avLst/>
            <a:gdLst/>
            <a:ahLst/>
            <a:cxnLst/>
            <a:rect l="l" t="t" r="r" b="b"/>
            <a:pathLst>
              <a:path w="16230600" h="5846794">
                <a:moveTo>
                  <a:pt x="0" y="0"/>
                </a:moveTo>
                <a:lnTo>
                  <a:pt x="16230600" y="0"/>
                </a:lnTo>
                <a:lnTo>
                  <a:pt x="16230600" y="5846794"/>
                </a:lnTo>
                <a:lnTo>
                  <a:pt x="0" y="584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</a:blip>
            <a:stretch>
              <a:fillRect t="-37038" b="-3703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3712" y="4295338"/>
            <a:ext cx="14879272" cy="4818310"/>
          </a:xfrm>
          <a:custGeom>
            <a:avLst/>
            <a:gdLst/>
            <a:ahLst/>
            <a:cxnLst/>
            <a:rect l="l" t="t" r="r" b="b"/>
            <a:pathLst>
              <a:path w="14879272" h="4818310">
                <a:moveTo>
                  <a:pt x="0" y="0"/>
                </a:moveTo>
                <a:lnTo>
                  <a:pt x="14879272" y="0"/>
                </a:lnTo>
                <a:lnTo>
                  <a:pt x="14879272" y="4818310"/>
                </a:lnTo>
                <a:lnTo>
                  <a:pt x="0" y="4818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</a:blip>
            <a:stretch>
              <a:fillRect l="-4773" r="-4773" b="-3193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485660" y="-2769470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09675"/>
            <a:ext cx="7459121" cy="257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 OBJECTIVE</a:t>
            </a:r>
          </a:p>
          <a:p>
            <a:pPr algn="l">
              <a:lnSpc>
                <a:spcPts val="9953"/>
              </a:lnSpc>
            </a:pPr>
            <a:endParaRPr lang="en-US" sz="9854" b="1" spc="-532">
              <a:gradFill>
                <a:gsLst>
                  <a:gs pos="0">
                    <a:srgbClr val="AED6E4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29375" y="5124450"/>
            <a:ext cx="13867946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451" lvl="1" indent="-457200" algn="l">
              <a:lnSpc>
                <a:spcPts val="2828"/>
              </a:lnSpc>
              <a:buFont typeface="+mj-lt"/>
              <a:buAutoNum type="arabicPeriod"/>
            </a:pPr>
            <a:r>
              <a:rPr lang="en-US" sz="2262" spc="-122" dirty="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Develop a Hierarchical RL System: Build PPO-based strategy selection with SAC/DDQN-based trade execution for Indian equity markets.</a:t>
            </a:r>
          </a:p>
          <a:p>
            <a:pPr marL="701451" lvl="1" indent="-457200" algn="l">
              <a:lnSpc>
                <a:spcPts val="2828"/>
              </a:lnSpc>
              <a:buFont typeface="+mj-lt"/>
              <a:buAutoNum type="arabicPeriod"/>
            </a:pPr>
            <a:r>
              <a:rPr lang="en-US" sz="2262" spc="-122" dirty="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Implement Confidence-Based Risk Management: Dynamically allocate capital and abstain from trading in uncertain market regimes.</a:t>
            </a:r>
          </a:p>
          <a:p>
            <a:pPr marL="701451" lvl="1" indent="-457200" algn="l">
              <a:lnSpc>
                <a:spcPts val="2828"/>
              </a:lnSpc>
              <a:buFont typeface="+mj-lt"/>
              <a:buAutoNum type="arabicPeriod"/>
            </a:pPr>
            <a:r>
              <a:rPr lang="en-US" sz="2262" spc="-122" dirty="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Ensure Model Reliability: Validate models using walk-forward testing, PBO, and Deflated Sharpe Ratio to prevent overfitting.</a:t>
            </a:r>
          </a:p>
          <a:p>
            <a:pPr marL="701451" lvl="1" indent="-457200" algn="l">
              <a:lnSpc>
                <a:spcPts val="2828"/>
              </a:lnSpc>
              <a:buFont typeface="+mj-lt"/>
              <a:buAutoNum type="arabicPeriod"/>
            </a:pPr>
            <a:r>
              <a:rPr lang="en-US" sz="2262" spc="-122" dirty="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Evaluate Performance: Benchmark against baseline DRL models using risk-adjusted return metrics and statistical validation.</a:t>
            </a:r>
          </a:p>
        </p:txBody>
      </p:sp>
      <p:sp>
        <p:nvSpPr>
          <p:cNvPr id="9" name="Freeform 9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47634" y="1703614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523411" y="-4143959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4016108"/>
          <a:ext cx="16166698" cy="6091404"/>
        </p:xfrm>
        <a:graphic>
          <a:graphicData uri="http://schemas.openxmlformats.org/drawingml/2006/table">
            <a:tbl>
              <a:tblPr/>
              <a:tblGrid>
                <a:gridCol w="427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4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1795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AED6E4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KEYPOINTS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160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[1].https://arxiv.org/abs/2012.12620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Deep Stock Trading: A Hierarchical Reinforcement Learning Framework for Portfolio Optimization and Order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Two-level hierarchical RL combining portfolio weight allocation with order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Operates at the portfolio level rather than being conditioned on market regime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932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[2].https://ojs.aaai.org/index.php/AAAI/article/view/16142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Commission Fee is not Enough: A Hierarchical Reinforced Framework for Portfolio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High-level agent sets portfolio weights; low-level agent handles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Portfolio-level design, not regime-conditioned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517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[3].https://doi.org/10.3390/ai6080183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A Deep Reinforcement Learning Framework for Strategic Indian NIFTY 50 Index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Benchmarks DQN, DDQN, and Dueling DDQN on 15-min NIFTY 50 OHLC data with technical indicators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Each architecture is a single fixed policy; no regime classifier or hierarchical conditioning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28700" y="1209675"/>
            <a:ext cx="9942919" cy="2577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LITERATURE REVIEW</a:t>
            </a:r>
          </a:p>
        </p:txBody>
      </p:sp>
      <p:sp>
        <p:nvSpPr>
          <p:cNvPr id="7" name="Freeform 7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47634" y="1703614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523411" y="-4143959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195263"/>
          <a:ext cx="16249821" cy="9620250"/>
        </p:xfrm>
        <a:graphic>
          <a:graphicData uri="http://schemas.openxmlformats.org/drawingml/2006/table">
            <a:tbl>
              <a:tblPr/>
              <a:tblGrid>
                <a:gridCol w="4400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3227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AED6E4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KEYPOINTS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5197"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[4].https://aaai.org/papers/00643-deeptrader-a-deep-reinforcement-learning-approach-for-risk-return-balanced-portfolio-management-with-market-conditions-embedding/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DeepTrader: A Deep Reinforcement Learning Approach for Risk-Return Balanced Portfolio Management with Market Conditions Embedding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Introduces a Market Scoring Unit and Asset Scoring Unit to embed market conditions into RL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Embeds a regime signal directly but doesn't use a separate, dedicated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1808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 u="sng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[5].https://arxiv.org/abs/2201.09058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DeepScalper: A Risk-Aware Reinforcement Learning Framework to Capture Fleeting Intraday Trading Opportunities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Risk-aware reward shaping for intraday RL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Risk-aware but not hierarchical or regime-based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479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[6].https://personal.ntu.edu.sg/boan/papers/TIST23_RLFintech.pdf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Reinforcement Learning for Quantitative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Comparative survey of RL trading methods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Explicitly flags regime-adaptation as an open 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3611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[7].https://arxiv.org/abs/2307.11685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Towards Generalizable Reinforcement Learning for Trade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Studies generalization of RL trade-execution policies across market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Execution-only; no explicit regime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0551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[8].https://arxiv.org/abs/2309.12891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sEarnHFT: Efficient Hierarchical Reinforcement Learning for High Frequency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3-stage hierarchical RL with an agent pool and a minute-level router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Built for crypto HFT; relies on a heavy multi-agent pool (hundreds of agents)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4377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[9].https://arxiv.org/abs/2406.14537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MacroHFT: Memory Augmented Context-Aware Reinforcement Learning on High Frequency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Memory-augmented, context-aware RL using sub-agents per regime plus a hyper-agent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HFT-focused with a heavier memory-augmented architecture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47634" y="1703614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523411" y="-4143959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177344"/>
          <a:ext cx="16282450" cy="9932313"/>
        </p:xfrm>
        <a:graphic>
          <a:graphicData uri="http://schemas.openxmlformats.org/drawingml/2006/table">
            <a:tbl>
              <a:tblPr/>
              <a:tblGrid>
                <a:gridCol w="407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0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0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1271"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AED6E4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KEYPOINTS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7"/>
                        </a:lnSpc>
                        <a:defRPr/>
                      </a:pPr>
                      <a:r>
                        <a:rPr lang="en-US" sz="206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456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[10].https://arxiv.org/abs/2410.14927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Hierarchical Reinforced Trader (HRT): A Bi-Level Approach for Optimizing Stock Selection and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Bi-level design: high-level controller (HLC) sets direction, low-level controller (LLC) executes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Directional views only; no supervised regime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1622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[11].https://arxiv.org/abs/2507.18560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HARLF: Hierarchical Reinforcement Learning and Lightweight LLM-Driven Sentiment Integration for Financial Portfolio Optimization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3-tier hierarchy (base/meta/super agents) integrating LLM-based sentiment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Heavier LLM stack, harder to reproduce within a one-semester 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404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[12].https://www.mdpi.com/2079-9292/15/6/1334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Regime-Aware LightGBM for Stock Market Forecasting: A Validated Walk-Forward Framework with Statistical Rigor and Explainable AI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LightGBM classifier conditioned on rolling HMM-detected regimes, with walk-forward validation and XAI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Classifier only — no downstream RL execution agent coupled to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2056"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[13].iMachine_Learning-Driven_Market_Regime_Analysis_in_Equity_Markets_A_Gaussian_Hidden_Markov_Model_Approach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Machine Learning-Driven Market Regime Analysis in Equity Markets: A Gaussian Hidden Markov Model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Multivariate Gaussian HMM + PCA identifying 9 distinct market regimes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Detection only; no coupling to an RL execution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0827">
                <a:tc>
                  <a:txBody>
                    <a:bodyPr/>
                    <a:lstStyle/>
                    <a:p>
                      <a:pPr algn="ctr">
                        <a:lnSpc>
                          <a:spcPts val="2327"/>
                        </a:lnSpc>
                        <a:defRPr/>
                      </a:pPr>
                      <a:r>
                        <a:rPr lang="en-US" sz="16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[14].https://arxiv.org/pdf/2604.10996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When Valid Signals Fail: Regime Boundaries Between LLM Features and RL Trading Policies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Diagnostic analysis of failure modes when LLM/regime features are injected into RL policies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Purely diagnostic — identifies the problem but proposes no hybrid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7677"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[15].https://doi.org/10.3390/sym18010112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7"/>
                        </a:lnSpc>
                        <a:defRPr/>
                      </a:pPr>
                      <a:r>
                        <a:rPr lang="en-US" sz="156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Deep Reinforcement Learning for Financial Trading: Enhanced by Cluster Embedding and Zero-Shot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Cluster Embedding-PPO (CE-PPO) for zero-shot prediction, structuring inputs before the RL agent sees them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Uses unsupervised cluster embedding, not a supervised regime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9314" y="-11610337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89314" y="3086100"/>
          <a:ext cx="15109372" cy="6524625"/>
        </p:xfrm>
        <a:graphic>
          <a:graphicData uri="http://schemas.openxmlformats.org/drawingml/2006/table">
            <a:tbl>
              <a:tblPr/>
              <a:tblGrid>
                <a:gridCol w="4071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161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AED6E4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TOOLS/TECHNQUES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161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Python 3.11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714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RL frameworks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Stable-Baselines3 (PPO, SAC), custom Dueling DDQN in PyTorch, Gymnasium custom environments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714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Hierarchical RL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Options framework with regime-conditioned termination β(s); separated reward objectives per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161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Regime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Gaussian HMM (hmmlearn) primary; change-point confidence; K-Means/GMM compariso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9714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yfinance / NSE bhavcopy (historical daily), Zerodha Kite Connect (minute bars + live paper trading), FRED (India VIX / macro)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1209675"/>
            <a:ext cx="15669986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TOOLS AND TECHNIQUES</a:t>
            </a:r>
          </a:p>
        </p:txBody>
      </p:sp>
      <p:sp>
        <p:nvSpPr>
          <p:cNvPr id="6" name="Freeform 6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9314" y="-11610337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89314" y="3086100"/>
          <a:ext cx="15109372" cy="6610350"/>
        </p:xfrm>
        <a:graphic>
          <a:graphicData uri="http://schemas.openxmlformats.org/drawingml/2006/table">
            <a:tbl>
              <a:tblPr/>
              <a:tblGrid>
                <a:gridCol w="4071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083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AED6E4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 b="1">
                          <a:solidFill>
                            <a:srgbClr val="000000"/>
                          </a:solidFill>
                          <a:latin typeface="TT Firs Neue Bold"/>
                          <a:ea typeface="TT Firs Neue Bold"/>
                          <a:cs typeface="TT Firs Neue Bold"/>
                          <a:sym typeface="TT Firs Neue Bold"/>
                        </a:rPr>
                        <a:t>TOOLS/TECHNQUES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083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Feature engineering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Pandas, NumPy, ta / TA-Lib (RSI, MACD, EMA, ATR, ADX, Bollinger, OBV, Stoch-RSI, VWAP)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34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Validation &amp; statistics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Rolling walk-forward with purged folds; Probability of Backtest Overfitting (CSCV); Deflated / Probabilistic Sharpe Ratio (Bailey &amp; López de Prado); Jobson–Korkie test with Memmel correction; block-bootstrap confidence intervals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083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Cost modelling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Fixed bps spread + STT/brokerage + square-root market-impact law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083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Streamlit + Plotly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083"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Engineering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9"/>
                        </a:lnSpc>
                        <a:defRPr/>
                      </a:pPr>
                      <a:r>
                        <a:rPr lang="en-US" sz="1892">
                          <a:solidFill>
                            <a:srgbClr val="FFFFFF"/>
                          </a:solidFill>
                          <a:latin typeface="TT Firs Neue"/>
                          <a:ea typeface="TT Firs Neue"/>
                          <a:cs typeface="TT Firs Neue"/>
                          <a:sym typeface="TT Firs Neue"/>
                        </a:rPr>
                        <a:t>Git/GitHub, pytest, GitHub Actions CI, Docker (optional)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1209675"/>
            <a:ext cx="15669986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TOOLS AND TECHNIQUES</a:t>
            </a:r>
          </a:p>
        </p:txBody>
      </p:sp>
      <p:sp>
        <p:nvSpPr>
          <p:cNvPr id="6" name="Freeform 6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76856" y="5444756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1" y="0"/>
                </a:lnTo>
                <a:lnTo>
                  <a:pt x="15109371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86370" y="2526707"/>
            <a:ext cx="12999745" cy="7188149"/>
          </a:xfrm>
          <a:custGeom>
            <a:avLst/>
            <a:gdLst/>
            <a:ahLst/>
            <a:cxnLst/>
            <a:rect l="l" t="t" r="r" b="b"/>
            <a:pathLst>
              <a:path w="12999745" h="7188149">
                <a:moveTo>
                  <a:pt x="0" y="0"/>
                </a:moveTo>
                <a:lnTo>
                  <a:pt x="12999745" y="0"/>
                </a:lnTo>
                <a:lnTo>
                  <a:pt x="12999745" y="7188149"/>
                </a:lnTo>
                <a:lnTo>
                  <a:pt x="0" y="7188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09675"/>
            <a:ext cx="9429558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PLAN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09675"/>
            <a:ext cx="9429558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REFERENCES</a:t>
            </a:r>
          </a:p>
        </p:txBody>
      </p:sp>
      <p:sp>
        <p:nvSpPr>
          <p:cNvPr id="4" name="Freeform 4"/>
          <p:cNvSpPr/>
          <p:nvPr/>
        </p:nvSpPr>
        <p:spPr>
          <a:xfrm>
            <a:off x="4532968" y="-13697948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2826481"/>
            <a:ext cx="16230600" cy="6801408"/>
          </a:xfrm>
          <a:custGeom>
            <a:avLst/>
            <a:gdLst/>
            <a:ahLst/>
            <a:cxnLst/>
            <a:rect l="l" t="t" r="r" b="b"/>
            <a:pathLst>
              <a:path w="16230600" h="6801408">
                <a:moveTo>
                  <a:pt x="0" y="0"/>
                </a:moveTo>
                <a:lnTo>
                  <a:pt x="16230600" y="0"/>
                </a:lnTo>
                <a:lnTo>
                  <a:pt x="16230600" y="6801409"/>
                </a:lnTo>
                <a:lnTo>
                  <a:pt x="0" y="680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</a:blip>
            <a:stretch>
              <a:fillRect t="-17804" b="-3184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712" y="3368800"/>
            <a:ext cx="14879272" cy="5744848"/>
          </a:xfrm>
          <a:custGeom>
            <a:avLst/>
            <a:gdLst/>
            <a:ahLst/>
            <a:cxnLst/>
            <a:rect l="l" t="t" r="r" b="b"/>
            <a:pathLst>
              <a:path w="14879272" h="5744848">
                <a:moveTo>
                  <a:pt x="0" y="0"/>
                </a:moveTo>
                <a:lnTo>
                  <a:pt x="14879272" y="0"/>
                </a:lnTo>
                <a:lnTo>
                  <a:pt x="14879272" y="5744848"/>
                </a:lnTo>
                <a:lnTo>
                  <a:pt x="0" y="574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</a:blip>
            <a:stretch>
              <a:fillRect l="-15306" r="-15306" b="-3193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29375" y="3832913"/>
            <a:ext cx="13867946" cy="49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[1] Anonymous, Deep Stock Trading: A Hierarchical Reinforcement Learning Framework for Portfolio Optimization and Order Execution, arXiv:2012.12620, 2020.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[2] Wang, R., Wei, H., An, B., Feng, Z., &amp; Yao, J., Commission Fee is not Enough: A Hierarchical Reinforced Framework for Portfolio Management, AAAI Conference on Artificial Intelligence, 2021.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[3] Mishra, R. G., Sharma, D., Gadhavi, M., Pant, S., &amp; Kumar, A., A Deep Reinforcement Learning Framework for Strategic Indian NIFTY 50 Index Trading, AI, 2025.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[4] Wang, Z., Huang, B., Tu, S., Zhang, K., &amp; Xu, L., DeepTrader: A Deep Reinforcement Learning Approach for Risk-Return Balanced Portfolio Management, AAAI, 2021.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[5] Sun, S., Xue, W., Wang, R., et al., DeepScalper: A Risk-Aware Reinforcement Learning Framework to Capture Fleeting Intraday Trading Opportunities, CIKM, 2022.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[6] Sun, S., Wang, R., &amp; An, B., Reinforcement Learning for Quantitative Trading, ACM Transactions on Intelligent Systems and Technology, 2023.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[7] Zhang, C., Duan, Y., Chen, X., et al., Towards Generalizable Reinforcement Learning for Trade Execution, arXiv:2307.11685, 2023.</a:t>
            </a:r>
          </a:p>
        </p:txBody>
      </p:sp>
      <p:sp>
        <p:nvSpPr>
          <p:cNvPr id="8" name="Freeform 8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09675"/>
            <a:ext cx="9429558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REFERENCES</a:t>
            </a:r>
          </a:p>
        </p:txBody>
      </p:sp>
      <p:sp>
        <p:nvSpPr>
          <p:cNvPr id="4" name="Freeform 4"/>
          <p:cNvSpPr/>
          <p:nvPr/>
        </p:nvSpPr>
        <p:spPr>
          <a:xfrm>
            <a:off x="4532968" y="-13697948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2826481"/>
            <a:ext cx="16230600" cy="6801408"/>
          </a:xfrm>
          <a:custGeom>
            <a:avLst/>
            <a:gdLst/>
            <a:ahLst/>
            <a:cxnLst/>
            <a:rect l="l" t="t" r="r" b="b"/>
            <a:pathLst>
              <a:path w="16230600" h="6801408">
                <a:moveTo>
                  <a:pt x="0" y="0"/>
                </a:moveTo>
                <a:lnTo>
                  <a:pt x="16230600" y="0"/>
                </a:lnTo>
                <a:lnTo>
                  <a:pt x="16230600" y="6801409"/>
                </a:lnTo>
                <a:lnTo>
                  <a:pt x="0" y="680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</a:blip>
            <a:stretch>
              <a:fillRect t="-17804" b="-3184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712" y="3368800"/>
            <a:ext cx="14879272" cy="6259090"/>
          </a:xfrm>
          <a:custGeom>
            <a:avLst/>
            <a:gdLst/>
            <a:ahLst/>
            <a:cxnLst/>
            <a:rect l="l" t="t" r="r" b="b"/>
            <a:pathLst>
              <a:path w="14879272" h="6259090">
                <a:moveTo>
                  <a:pt x="0" y="0"/>
                </a:moveTo>
                <a:lnTo>
                  <a:pt x="14879272" y="0"/>
                </a:lnTo>
                <a:lnTo>
                  <a:pt x="14879272" y="6259090"/>
                </a:lnTo>
                <a:lnTo>
                  <a:pt x="0" y="6259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</a:blip>
            <a:stretch>
              <a:fillRect l="-15306" r="-15306" b="-2109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10027" y="3721922"/>
            <a:ext cx="13867946" cy="811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[8] Qin, M., Sun, S., Zhang, W., et al., EarnHFT: Efficient Hierarchical Reinforcement Learning for High Frequency Trading, AAAI, 2024.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[9] Niu, H., et al., MacroHFT: Memory Augmented Context-Aware Reinforcement Learning on High Frequency Trading, KDD, 2024.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[10] Anonymous, Hierarchical Reinforced Trader (HRT): A Bi-Level Approach for Optimizing Stock Selection and Execution, arXiv:2410.14927, 2024.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[11] Coriat, B., &amp; Benhamou, E., HARLF: Hierarchical Reinforcement Learning and Lightweight LLM-Driven Sentiment Integration for Financial Portfolio Optimization, IJCAI FinLLM Workshop, 2025.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[12] Pagliaro, A., Regime-Aware LightGBM for Stock Market Forecasting: A Validated Walk-Forward Framework with Statistical Rigor and Explainable AI Analysis, Electronics, 2026.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[13] Anonymous, Machine Learning-Driven Market Regime Analysis in Equity Markets: A Gaussian Hidden Markov Model Approach, 2025.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[14] Anonymous, When Valid Signals Fail: Regime Boundaries Between LLM Features and RL Trading Policies, arXiv:2604.10996, 2026.</a:t>
            </a:r>
          </a:p>
          <a:p>
            <a:pPr algn="l">
              <a:lnSpc>
                <a:spcPts val="2828"/>
              </a:lnSpc>
            </a:pPr>
            <a:r>
              <a:rPr lang="en-US" sz="2262" spc="-12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[15] Anonymous, Deep Reinforcement Learning for Financial Trading: Enhanced by Cluster Embedding and Zero-Shot Prediction, Symmetry, 2026.</a:t>
            </a: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2828"/>
              </a:lnSpc>
            </a:pPr>
            <a:endParaRPr lang="en-US" sz="2262" spc="-122">
              <a:gradFill>
                <a:gsLst>
                  <a:gs pos="0">
                    <a:srgbClr val="C6C6C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33565" y="-11866297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15233" y="4575471"/>
            <a:ext cx="7457534" cy="131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sz="9854" b="1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THANKYOU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6244775" y="553388"/>
            <a:ext cx="950624" cy="950624"/>
          </a:xfrm>
          <a:custGeom>
            <a:avLst/>
            <a:gdLst/>
            <a:ahLst/>
            <a:cxnLst/>
            <a:rect l="l" t="t" r="r" b="b"/>
            <a:pathLst>
              <a:path w="950624" h="950624">
                <a:moveTo>
                  <a:pt x="0" y="0"/>
                </a:moveTo>
                <a:lnTo>
                  <a:pt x="950624" y="0"/>
                </a:lnTo>
                <a:lnTo>
                  <a:pt x="950624" y="950624"/>
                </a:lnTo>
                <a:lnTo>
                  <a:pt x="0" y="9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553530" y="5644000"/>
            <a:ext cx="15109372" cy="15109372"/>
          </a:xfrm>
          <a:custGeom>
            <a:avLst/>
            <a:gdLst/>
            <a:ahLst/>
            <a:cxnLst/>
            <a:rect l="l" t="t" r="r" b="b"/>
            <a:pathLst>
              <a:path w="15109372" h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1639</Words>
  <Application>Microsoft Office PowerPoint</Application>
  <PresentationFormat>Custom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TT Firs Neue</vt:lpstr>
      <vt:lpstr>Canva Sans</vt:lpstr>
      <vt:lpstr>Calibri</vt:lpstr>
      <vt:lpstr>TT Firs Neue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PPT</dc:title>
  <cp:lastModifiedBy>Bhavika Bhojwani</cp:lastModifiedBy>
  <cp:revision>3</cp:revision>
  <dcterms:created xsi:type="dcterms:W3CDTF">2006-08-16T00:00:00Z</dcterms:created>
  <dcterms:modified xsi:type="dcterms:W3CDTF">2026-07-19T18:25:10Z</dcterms:modified>
  <dc:identifier>DAHPhW7TDcc</dc:identifier>
</cp:coreProperties>
</file>